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申請額（円）</c:v>
                </c:pt>
              </c:strCache>
            </c:strRef>
          </c:tx>
          <c:spPr>
            <a:solidFill>
              <a:srgbClr val="2E5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B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B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5B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7CC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7CC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7CC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5BA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7CC9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A工場屋根
末端返し</c:v>
                  </c:pt>
                  <c:pt idx="1">
                    <c:v>C-1工場
シャッター</c:v>
                  </c:pt>
                  <c:pt idx="2">
                    <c:v>B工場
アクリル板</c:v>
                  </c:pt>
                  <c:pt idx="3">
                    <c:v>旧集会所
雨樋</c:v>
                  </c:pt>
                  <c:pt idx="4">
                    <c:v>旧集会所
窓ガラス</c:v>
                  </c:pt>
                  <c:pt idx="5">
                    <c:v>物流センター
庇（対象外）</c:v>
                  </c:pt>
                  <c:pt idx="6">
                    <c:v>技術部
倉庫</c:v>
                  </c:pt>
                  <c:pt idx="7">
                    <c:v>その他
台風15号</c:v>
                  </c:pt>
                  <c:pt idx="8">
                    <c:v>その他
台風19号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667000</c:v>
                </c:pt>
                <c:pt idx="1">
                  <c:v>444888</c:v>
                </c:pt>
                <c:pt idx="2">
                  <c:v>364000</c:v>
                </c:pt>
                <c:pt idx="3">
                  <c:v>230000</c:v>
                </c:pt>
                <c:pt idx="4">
                  <c:v>91200</c:v>
                </c:pt>
                <c:pt idx="5">
                  <c:v>230000</c:v>
                </c:pt>
                <c:pt idx="6">
                  <c:v>80000</c:v>
                </c:pt>
                <c:pt idx="7">
                  <c:v>70000</c:v>
                </c:pt>
                <c:pt idx="8">
                  <c:v>208650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10972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1097280"/>
          </a:xfrm>
          <a:prstGeom prst="rect">
            <a:avLst/>
          </a:prstGeom>
          <a:solidFill>
            <a:srgbClr val="2E5BA8">
              <a:alpha val="40000"/>
            </a:srgbClr>
          </a:solidFill>
          <a:ln w="12700">
            <a:solidFill>
              <a:srgbClr val="2E5BA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2926080" cy="347472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ロスプリサーベイ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事故分析コメント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7772400" cy="36576"/>
          </a:xfrm>
          <a:prstGeom prst="rect">
            <a:avLst/>
          </a:prstGeom>
          <a:solidFill>
            <a:srgbClr val="4A7CC9"/>
          </a:solidFill>
          <a:ln w="12700">
            <a:solidFill>
              <a:srgbClr val="4A7C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2724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台風15号（令和元年房総半島台風）　2019年9月9日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台風19号（令和元年東日本台風）　　2019年10月13日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総務・環境保全部　石黒 茂　｜　2020年2月8日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被害概要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011680" cy="28346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被害箇所数（合計）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004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201168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台風15号11 ＋ 台風19号10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011680" cy="2834640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保険申請件数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15544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3108960"/>
            <a:ext cx="201168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台風15号6件 ＋ 台風19号7件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283464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保険申請額（税抜き）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7720" y="15544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219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61772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万円（税抜）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3108960"/>
            <a:ext cx="2011680" cy="36576"/>
          </a:xfrm>
          <a:prstGeom prst="rect">
            <a:avLst/>
          </a:prstGeom>
          <a:solidFill>
            <a:srgbClr val="1A2B5E">
              <a:alpha val="30000"/>
            </a:srgbClr>
          </a:solidFill>
          <a:ln w="12700">
            <a:solidFill>
              <a:srgbClr val="1A2B5E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合計13件 ≒ 218.7万円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960120"/>
            <a:ext cx="2011680" cy="283464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人的被害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66560" y="15544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０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6766560" y="2697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66560" y="3108960"/>
            <a:ext cx="2011680" cy="36576"/>
          </a:xfrm>
          <a:prstGeom prst="rect">
            <a:avLst/>
          </a:prstGeom>
          <a:solidFill>
            <a:srgbClr val="1E8449">
              <a:alpha val="30000"/>
            </a:srgbClr>
          </a:solidFill>
          <a:ln w="12700">
            <a:solidFill>
              <a:srgbClr val="1E8449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145536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両台風とも人的被害なし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931920"/>
            <a:ext cx="8503920" cy="685800"/>
          </a:xfrm>
          <a:prstGeom prst="rect">
            <a:avLst/>
          </a:prstGeom>
          <a:solidFill>
            <a:srgbClr val="F5CBA7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502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3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 保険対象外：No.5事務棟雨漏り（保険対象外）、No.6樹木（植木は保険対象外）、No.7物流センター庇（賃貸物件・大家負担）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D3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 保険降りず：19-9 警備システム（物理的損傷認められず）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92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　台風15号・19号　事故分析コメント　｜　総務・環境保全部　2020.02.08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外力評価　｜　横浜観測所　気象観測データ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566928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台風15号　令和元年房総半島台風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2019年9月9日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14800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09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最大瞬間風速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41.8 m/s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8653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（3時12分）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中心気圧（横浜通過時）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4871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960 hPa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4871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（9日4時頃）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4114800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52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1時間最大降水量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108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72.0 mm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1089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（3時50分まで）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38144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上陸時勢力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7307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最大風速 40 m/s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37307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千葉市付近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4114800" cy="512064"/>
          </a:xfrm>
          <a:prstGeom prst="rect">
            <a:avLst/>
          </a:prstGeom>
          <a:solidFill>
            <a:srgbClr val="D6E4F7"/>
          </a:solidFill>
          <a:ln w="12700">
            <a:solidFill>
              <a:srgbClr val="B3C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5993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 当時の横浜観測史上1位を更新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914400"/>
            <a:ext cx="4114800" cy="566928"/>
          </a:xfrm>
          <a:prstGeom prst="rect">
            <a:avLst/>
          </a:prstGeom>
          <a:solidFill>
            <a:srgbClr val="0D1A3E"/>
          </a:solidFill>
          <a:ln w="12700">
            <a:solidFill>
              <a:srgbClr val="0D1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台風19号　令和元年東日本台風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12618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2019年10月12〜13日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572768"/>
            <a:ext cx="4114800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609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最大瞬間風速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64608" y="18653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43.8 m/s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18653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（20時32分）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194560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中心気圧（横浜通過時）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64608" y="24871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960 hPa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40880" y="24871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（10月12日21時）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816352"/>
            <a:ext cx="4114800" cy="58521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852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24時間最大降水量（箱根）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64608" y="3108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945.2 mm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40880" y="31089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観測史上1位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438144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上陸時勢力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64608" y="37307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大型で強い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40880" y="37307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伊豆半島に上陸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4059936"/>
            <a:ext cx="4114800" cy="512064"/>
          </a:xfrm>
          <a:prstGeom prst="rect">
            <a:avLst/>
          </a:prstGeom>
          <a:solidFill>
            <a:srgbClr val="D6E4F7"/>
          </a:solidFill>
          <a:ln w="12700">
            <a:solidFill>
              <a:srgbClr val="B3CF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05993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 10月として歴代1位を更新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92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　台風15号・19号　事故分析コメント　｜　総務・環境保全部　2020.02.08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外力評価　｜　設計外力との比較判定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D6E4F7"/>
          </a:solidFill>
          <a:ln w="12700">
            <a:solidFill>
              <a:srgbClr val="B3C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横浜市の基準風速 Vo = 34 m/s</a:t>
            </a:r>
            <a:pPr indent="0" marL="0">
              <a:buNone/>
            </a:pPr>
            <a:r>
              <a:rPr lang="en-US" sz="14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（建設省告示第1454号）　　　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設計外力の判定閾値（最大瞬間風速）：Vo × 1.5 = </a:t>
            </a:r>
            <a:pPr indent="0" marL="0">
              <a:buNone/>
            </a:pPr>
            <a:r>
              <a:rPr lang="en-US" sz="1800" b="1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 m/s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56032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比較項目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224028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691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台風15号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1691640"/>
            <a:ext cx="224028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691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台風19号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691640"/>
            <a:ext cx="137160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2560320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39696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最大瞬間風速（横浜観測所）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103120"/>
            <a:ext cx="2240280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2139696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41.8 m/s　（3時12分）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2103120"/>
            <a:ext cx="2240280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2139696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43.8 m/s　（20時32分）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2103120"/>
            <a:ext cx="1371600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2139696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679192"/>
            <a:ext cx="25603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1576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設計外力の閾値　Vo × 1.5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2679192"/>
            <a:ext cx="22402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715768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 m/s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57800" y="2679192"/>
            <a:ext cx="224028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2715768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 m/s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2679192"/>
            <a:ext cx="1371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715768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255264"/>
            <a:ext cx="2560320" cy="576072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291840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設計外力超過の有無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3255264"/>
            <a:ext cx="224028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329184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　超過なし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41.8 &lt; 51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57800" y="3255264"/>
            <a:ext cx="224028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0952" y="3291840"/>
            <a:ext cx="2093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　超過なし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43.8 &lt; 51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3255264"/>
            <a:ext cx="137160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62672" y="329184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設計外力超過なし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3730752"/>
            <a:ext cx="8595360" cy="80467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5876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【判定】</a:t>
            </a:r>
            <a:pPr indent="0" marL="0">
              <a:buNone/>
            </a:pPr>
            <a:r>
              <a:rPr lang="en-US" sz="1300" dirty="0">
                <a:solidFill>
                  <a:srgbClr val="3D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両台風とも設計外力（Vo×1.5 = 51 m/s）を超過していない。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被害の主因は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経年劣化による強度低下</a:t>
            </a:r>
            <a:pPr indent="0" marL="0">
              <a:buNone/>
            </a:pPr>
            <a:r>
              <a:rPr lang="en-US" sz="1300" dirty="0">
                <a:solidFill>
                  <a:srgbClr val="3D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と推定される（飛来物衝突等も排除できない）。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92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　台風15号・19号　事故分析コメント　｜　総務・環境保全部　2020.02.08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被害状況　｜　損傷箇所と金額一覧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384048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台風15号（9月9日）　11件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984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A工場 屋根末端返し破損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12984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667,000円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1371600"/>
            <a:ext cx="73152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673352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6733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1673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C-1工場 外壁破損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16733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60,000円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15968" y="1746504"/>
            <a:ext cx="73152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048256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0482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20482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C-3工場 屋根破損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2048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60,000円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5968" y="2121408"/>
            <a:ext cx="73152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42316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423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2423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危険物倉庫 看板破損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0" y="2423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6,000円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15968" y="2496312"/>
            <a:ext cx="73152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798064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7980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事務棟 雨漏り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0" y="27980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費用未定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15968" y="2871216"/>
            <a:ext cx="73152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172968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31729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" y="3172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工場入口 樹木破損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0" y="31729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41,000円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15968" y="3246120"/>
            <a:ext cx="73152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547872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5478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3547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物流センター 庇破損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00400" y="35478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230,000円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15968" y="3621024"/>
            <a:ext cx="73152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92277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9227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4360" y="39227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容器準備-B棟 架空線脱落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0" y="39227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4,000円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15968" y="3995928"/>
            <a:ext cx="73152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4297680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436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技術部倉庫 破損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0" y="4297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80,000円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315968" y="4370832"/>
            <a:ext cx="73152" cy="21945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868680"/>
            <a:ext cx="4206240" cy="384048"/>
          </a:xfrm>
          <a:prstGeom prst="rect">
            <a:avLst/>
          </a:prstGeom>
          <a:solidFill>
            <a:srgbClr val="0D1A3E"/>
          </a:solidFill>
          <a:ln w="12700">
            <a:solidFill>
              <a:srgbClr val="0D1A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台風19号（10月13日）　10件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709160" y="1298448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129844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230368" y="1298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入口看板 電線断線（強化復旧）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26680" y="12984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23,150円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09160" y="1673352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167335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30368" y="16733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C-1工場 シャッター破損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726680" y="167335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444,888円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2048256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204825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30368" y="20482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A工場 表示板脱落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26680" y="2048256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17,500円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09160" y="2423160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24231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230368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B工場 アクリル板破損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726680" y="24231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364,000円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09160" y="2798064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79806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19-5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230368" y="279806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旧集会所 雨樋破損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726680" y="279806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230,000円 ※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09160" y="3172968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317296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230368" y="3172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旧集会所 窓ガラス脱落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726680" y="31729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91,200円 ※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709160" y="3547872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36592" y="35478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19-7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230368" y="35478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地下浄化設備 配管・支柱破損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726680" y="354787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44,000円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709160" y="392277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36592" y="392277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19-9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230368" y="39227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警備システム故障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726680" y="3922776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134,000円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28600" y="4572000"/>
            <a:ext cx="7315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7472" y="45720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保険申請対象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737360" y="4572000"/>
            <a:ext cx="73152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856232" y="45720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保険対象外・降りず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114800" y="457200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個票と集計表で金額に差異あり（要原資料確認）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4320" y="4892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　台風15号・19号　事故分析コメント　｜　総務・環境保全部　2020.02.08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被害状況　｜　金額サマリー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234440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9692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台風15号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保険申請合計（6件）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52160" y="1417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877,000 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52160" y="17647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原建設工業 867,000円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シルバピア 10,000円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60720" y="2240280"/>
            <a:ext cx="3108960" cy="1234440"/>
          </a:xfrm>
          <a:prstGeom prst="rect">
            <a:avLst/>
          </a:prstGeom>
          <a:solidFill>
            <a:srgbClr val="0D1A3E"/>
          </a:solidFill>
          <a:ln w="12700">
            <a:solidFill>
              <a:srgbClr val="0D1A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29514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台風19号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保険申請合計（7件）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1,309,738 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52160" y="30906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文化シャッター 444,888円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原建設工業 738,000円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シルバピア 126,850円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60720" y="3566160"/>
            <a:ext cx="310896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36210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2台風　保険申請総額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4069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2,186,738 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52160" y="44165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13件合計（税抜き）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4892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　台風15号・19号　事故分析コメント　｜　総務・環境保全部　2020.02.08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再発防止策の評価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　強化型復旧が確認された事例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43584"/>
            <a:ext cx="8595360" cy="658368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【入口看板 照明用電線（19-1）】</a:t>
            </a:r>
            <a:pPr indent="0" marL="0">
              <a:buNone/>
            </a:pPr>
            <a:r>
              <a:rPr lang="en-US" sz="1250" dirty="0">
                <a:solidFill>
                  <a:srgbClr val="1A3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架空線を廃止し、電柱・ガードレール沿いの配線に変更。強風対策として有効な強化型復旧と評価できる。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8595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　原状復旧にとどまっている事例（要注意）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62179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77440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A工場屋根末端返し、C-1/C-3工場外壁・屋根、技術部倉庫等は同仕様での原状復旧にとどまる。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設計外力を超えない台風でも被災しており、今後も同程度の台風来襲時に再被災するリスクが残存する。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859536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7238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　現地調査で必ず確認すべき事項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56432"/>
            <a:ext cx="32004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5643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456432"/>
            <a:ext cx="827532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5643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同年代・同仕様の屋根端部（末端返し）・外壁材・シャッター・アクリル板が他棟にも存在する場合、未損傷の残存箇所の劣化状況を重点確認すること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959352"/>
            <a:ext cx="32004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95935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959352"/>
            <a:ext cx="8275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593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今回一部棟のみ損傷した場合も、残存設備が同様の潜在リスクを抱えている可能性があるため、腐食・固定部の弛み・変形の有無を必ず現地で確認すること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462272"/>
            <a:ext cx="32004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462272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462272"/>
            <a:ext cx="827532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622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旧集会所は建物全体の老朽化が顕著と推測されるため、窓・外壁・屋根全体の健全性確認を推奨する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　台風15号・19号　事故分析コメント　｜　総務・環境保全部　2020.02.08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総評・推奨事項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04672"/>
            <a:ext cx="7772400" cy="36576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60120"/>
            <a:ext cx="502920" cy="1051560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960120"/>
            <a:ext cx="7315200" cy="1051560"/>
          </a:xfrm>
          <a:prstGeom prst="rect">
            <a:avLst/>
          </a:prstGeom>
          <a:solidFill>
            <a:srgbClr val="1A2B5E">
              <a:alpha val="60000"/>
            </a:srgbClr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03327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B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外力評価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88720" y="134416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横浜観測所の気象記録を確認した結果、台風15号（41.8 m/s）・19号（43.8 m/s）ともに最大瞬間風速は設計外力の目安（Vo×1.5 = 51 m/s）を下回っており、設計外力超過による構造破壊とは判断し難い。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240280"/>
            <a:ext cx="502920" cy="1051560"/>
          </a:xfrm>
          <a:prstGeom prst="rect">
            <a:avLst/>
          </a:prstGeom>
          <a:solidFill>
            <a:srgbClr val="4A7CC9"/>
          </a:solidFill>
          <a:ln w="12700">
            <a:solidFill>
              <a:srgbClr val="4A7C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240280"/>
            <a:ext cx="7315200" cy="1051560"/>
          </a:xfrm>
          <a:prstGeom prst="rect">
            <a:avLst/>
          </a:prstGeom>
          <a:solidFill>
            <a:srgbClr val="1A2B5E">
              <a:alpha val="60000"/>
            </a:srgbClr>
          </a:solidFill>
          <a:ln w="12700">
            <a:solidFill>
              <a:srgbClr val="4A7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3134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7C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事故原因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262432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被害の主因は経年劣化による強度低下と推定される。特に旧集会所等の老朽設備への集中被害、屋根端部の腐食、アクリル板の脆化がその証左。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520440"/>
            <a:ext cx="502920" cy="1051560"/>
          </a:xfrm>
          <a:prstGeom prst="rect">
            <a:avLst/>
          </a:prstGeom>
          <a:solidFill>
            <a:srgbClr val="B3CFF0"/>
          </a:solidFill>
          <a:ln w="12700">
            <a:solidFill>
              <a:srgbClr val="B3C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204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A3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3520440"/>
            <a:ext cx="7315200" cy="1051560"/>
          </a:xfrm>
          <a:prstGeom prst="rect">
            <a:avLst/>
          </a:prstGeom>
          <a:solidFill>
            <a:srgbClr val="1A2B5E">
              <a:alpha val="60000"/>
            </a:srgbClr>
          </a:solidFill>
          <a:ln w="12700">
            <a:solidFill>
              <a:srgbClr val="B3CF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5935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CF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再発防止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88720" y="3904488"/>
            <a:ext cx="7132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電線配線変更（強化型復旧）を除く大多数が原状復旧にとどまり、残存する同型・同年代設備の劣化確認と強化型修繕の実施を強く推奨する。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5BA8"/>
          </a:solidFill>
          <a:ln w="12700">
            <a:solidFill>
              <a:srgbClr val="2E5B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大船工場　台風15号・19号　事故分析コメント　｜　総務・環境保全部　2020.02.08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大船工場 台風15号・19号 事故分析コメント</dc:title>
  <dc:subject>PptxGenJS Presentation</dc:subject>
  <dc:creator>PptxGenJS</dc:creator>
  <cp:lastModifiedBy>PptxGenJS</cp:lastModifiedBy>
  <cp:revision>1</cp:revision>
  <dcterms:created xsi:type="dcterms:W3CDTF">2026-04-10T08:26:39Z</dcterms:created>
  <dcterms:modified xsi:type="dcterms:W3CDTF">2026-04-10T08:26:39Z</dcterms:modified>
</cp:coreProperties>
</file>